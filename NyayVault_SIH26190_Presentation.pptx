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097280"/>
            <a:ext cx="3840480" cy="411480"/>
          </a:xfrm>
          <a:prstGeom prst="roundRect">
            <a:avLst/>
          </a:prstGeom>
          <a:solidFill>
            <a:srgbClr val="0E2B5C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D4FF"/>
                </a:solidFill>
              </a:defRPr>
            </a:pPr>
            <a:r>
              <a:t>SMART INDIA HACKATHON 2026 | PS ID: SIH26190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5F7FA"/>
                </a:solidFill>
              </a:defRPr>
            </a:pPr>
            <a:r>
              <a:t>NyayVault: Secure Digital Evidence Vault</a:t>
            </a:r>
          </a:p>
          <a:p>
            <a:pPr>
              <a:spcBef>
                <a:spcPts val="400"/>
              </a:spcBef>
              <a:defRPr sz="3000" b="1">
                <a:solidFill>
                  <a:srgbClr val="00D4FF"/>
                </a:solidFill>
              </a:defRPr>
            </a:pPr>
            <a:r>
              <a:t>&amp; AI Case Intelligence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66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0AEC0"/>
                </a:solidFill>
              </a:defRPr>
            </a:pPr>
            <a:r>
              <a:t>An immutable, cryptographically verified, AI-driven legal evidence repository adhering to BSA Sec 63 &amp; BNSS standards for Indian Judiciary &amp; Police.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572000"/>
            <a:ext cx="3383280" cy="1280160"/>
          </a:xfrm>
          <a:prstGeom prst="roundRect">
            <a:avLst/>
          </a:prstGeom>
          <a:solidFill>
            <a:srgbClr val="132244"/>
          </a:solidFill>
          <a:ln>
            <a:solidFill>
              <a:srgbClr val="263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B800"/>
                </a:solidFill>
              </a:defRPr>
            </a:pPr>
            <a:r>
              <a:t>🔐 Zero-Trust RBAC</a:t>
            </a:r>
          </a:p>
          <a:p>
            <a:pPr>
              <a:spcBef>
                <a:spcPts val="400"/>
              </a:spcBef>
              <a:defRPr sz="1000">
                <a:solidFill>
                  <a:srgbClr val="A0AEC0"/>
                </a:solidFill>
              </a:defRPr>
            </a:pPr>
            <a:r>
              <a:t>Judges, Police, Forensics, Lawyers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4572000"/>
            <a:ext cx="3383280" cy="1280160"/>
          </a:xfrm>
          <a:prstGeom prst="roundRect">
            <a:avLst/>
          </a:prstGeom>
          <a:solidFill>
            <a:srgbClr val="132244"/>
          </a:solidFill>
          <a:ln>
            <a:solidFill>
              <a:srgbClr val="263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B800"/>
                </a:solidFill>
              </a:defRPr>
            </a:pPr>
            <a:r>
              <a:t>⚡ AI OCR &amp; Redaction</a:t>
            </a:r>
          </a:p>
          <a:p>
            <a:pPr>
              <a:spcBef>
                <a:spcPts val="400"/>
              </a:spcBef>
              <a:defRPr sz="1000">
                <a:solidFill>
                  <a:srgbClr val="A0AEC0"/>
                </a:solidFill>
              </a:defRPr>
            </a:pPr>
            <a:r>
              <a:t>Automated PII Masking with Gemini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4572000"/>
            <a:ext cx="3383280" cy="1280160"/>
          </a:xfrm>
          <a:prstGeom prst="roundRect">
            <a:avLst/>
          </a:prstGeom>
          <a:solidFill>
            <a:srgbClr val="132244"/>
          </a:solidFill>
          <a:ln>
            <a:solidFill>
              <a:srgbClr val="263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B800"/>
                </a:solidFill>
              </a:defRPr>
            </a:pPr>
            <a:r>
              <a:t>🛡️ SHA-256 Tamper Proof</a:t>
            </a:r>
          </a:p>
          <a:p>
            <a:pPr>
              <a:spcBef>
                <a:spcPts val="400"/>
              </a:spcBef>
              <a:defRPr sz="1000">
                <a:solidFill>
                  <a:srgbClr val="A0AEC0"/>
                </a:solidFill>
              </a:defRPr>
            </a:pPr>
            <a:r>
              <a:t>Cryptographic Chain of Custody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D4FF"/>
                </a:solidFill>
              </a:defRPr>
            </a:pPr>
            <a:r>
              <a:t>THE CHALLENGE &amp;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5F7FA"/>
                </a:solidFill>
              </a:defRPr>
            </a:pPr>
            <a:r>
              <a:t>Problem Statement: Vulnerabilities in Current Legal Evidence Handling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132244"/>
          </a:solidFill>
          <a:ln w="19050">
            <a:solidFill>
              <a:srgbClr val="263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29260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87171"/>
                </a:solidFill>
              </a:defRPr>
            </a:pPr>
            <a:r>
              <a:t>1. Physical Evidence Tampering</a:t>
            </a:r>
          </a:p>
          <a:p>
            <a:pPr>
              <a:spcAft>
                <a:spcPts val="600"/>
              </a:spcAft>
              <a:defRPr sz="1100">
                <a:solidFill>
                  <a:srgbClr val="F5F7FA"/>
                </a:solidFill>
              </a:defRPr>
            </a:pPr>
            <a:r>
              <a:t>• Paper-based FIRs, seizure memos, and charge sheets are vulnerable to theft, loss, and physical decay.</a:t>
            </a:r>
          </a:p>
          <a:p>
            <a:pPr>
              <a:spcAft>
                <a:spcPts val="600"/>
              </a:spcAft>
              <a:defRPr sz="1100">
                <a:solidFill>
                  <a:srgbClr val="F5F7FA"/>
                </a:solidFill>
              </a:defRPr>
            </a:pPr>
            <a:r>
              <a:t>• High risk of document substitution or unauthorized physical alterations during transit.</a:t>
            </a:r>
          </a:p>
          <a:p>
            <a:pPr>
              <a:spcAft>
                <a:spcPts val="600"/>
              </a:spcAft>
              <a:defRPr sz="1100">
                <a:solidFill>
                  <a:srgbClr val="F5F7FA"/>
                </a:solidFill>
              </a:defRPr>
            </a:pPr>
            <a:r>
              <a:t>• Difficult to establish tamper-evident proof in court without disputed forensic testing.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132244"/>
          </a:solidFill>
          <a:ln w="19050">
            <a:solidFill>
              <a:srgbClr val="263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645920"/>
            <a:ext cx="29260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B923C"/>
                </a:solidFill>
              </a:defRPr>
            </a:pPr>
            <a:r>
              <a:t>2. Broken Chain of Custody</a:t>
            </a:r>
          </a:p>
          <a:p>
            <a:pPr>
              <a:spcAft>
                <a:spcPts val="600"/>
              </a:spcAft>
              <a:defRPr sz="1100">
                <a:solidFill>
                  <a:srgbClr val="F5F7FA"/>
                </a:solidFill>
              </a:defRPr>
            </a:pPr>
            <a:r>
              <a:t>• No unified digital tracking across Police, Forensics, Prosecution, and Judiciary.</a:t>
            </a:r>
          </a:p>
          <a:p>
            <a:pPr>
              <a:spcAft>
                <a:spcPts val="600"/>
              </a:spcAft>
              <a:defRPr sz="1100">
                <a:solidFill>
                  <a:srgbClr val="F5F7FA"/>
                </a:solidFill>
              </a:defRPr>
            </a:pPr>
            <a:r>
              <a:t>• Failure to meet strict admissibility standards under Bharatiya Sakshya Adhiniyam (BSA) Sec 63 / Sec 65B.</a:t>
            </a:r>
          </a:p>
          <a:p>
            <a:pPr>
              <a:spcAft>
                <a:spcPts val="600"/>
              </a:spcAft>
              <a:defRPr sz="1100">
                <a:solidFill>
                  <a:srgbClr val="F5F7FA"/>
                </a:solidFill>
              </a:defRPr>
            </a:pPr>
            <a:r>
              <a:t>• Lack of immutable audit logging of who viewed, shared, or printed case evidence.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132244"/>
          </a:solidFill>
          <a:ln w="19050">
            <a:solidFill>
              <a:srgbClr val="263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645920"/>
            <a:ext cx="29260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ACC15"/>
                </a:solidFill>
              </a:defRPr>
            </a:pPr>
            <a:r>
              <a:t>3. Manual Delays &amp; Privacy Risks</a:t>
            </a:r>
          </a:p>
          <a:p>
            <a:pPr>
              <a:spcAft>
                <a:spcPts val="600"/>
              </a:spcAft>
              <a:defRPr sz="1100">
                <a:solidFill>
                  <a:srgbClr val="F5F7FA"/>
                </a:solidFill>
              </a:defRPr>
            </a:pPr>
            <a:r>
              <a:t>• Judges spend hundreds of hours manually cross-referencing multi-volume charge sheets.</a:t>
            </a:r>
          </a:p>
          <a:p>
            <a:pPr>
              <a:spcAft>
                <a:spcPts val="600"/>
              </a:spcAft>
              <a:defRPr sz="1100">
                <a:solidFill>
                  <a:srgbClr val="F5F7FA"/>
                </a:solidFill>
              </a:defRPr>
            </a:pPr>
            <a:r>
              <a:t>• Unredacted sensitive PII (Aadhaar, victim identities, bank details) exposed in public court filings.</a:t>
            </a:r>
          </a:p>
          <a:p>
            <a:pPr>
              <a:spcAft>
                <a:spcPts val="600"/>
              </a:spcAft>
              <a:defRPr sz="1100">
                <a:solidFill>
                  <a:srgbClr val="F5F7FA"/>
                </a:solidFill>
              </a:defRPr>
            </a:pPr>
            <a:r>
              <a:t>• Severe trial delays contributing to over 5 Crore pending cases in Indian courts.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D4FF"/>
                </a:solidFill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5F7FA"/>
                </a:solidFill>
              </a:defRPr>
            </a:pPr>
            <a:r>
              <a:t>NyayVault: End-to-End Digital Evidence Ecosystem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2286000"/>
          </a:xfrm>
          <a:prstGeom prst="roundRect">
            <a:avLst/>
          </a:prstGeom>
          <a:solidFill>
            <a:srgbClr val="132244"/>
          </a:solidFill>
          <a:ln w="19050">
            <a:solidFill>
              <a:srgbClr val="263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75488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0D4FF"/>
                </a:solidFill>
              </a:defRPr>
            </a:pPr>
            <a:r>
              <a:t>🔒 Cryptographic Vault &amp; Live Hash Check</a:t>
            </a:r>
          </a:p>
          <a:p>
            <a:pPr>
              <a:spcAft>
                <a:spcPts val="600"/>
              </a:spcAft>
              <a:defRPr sz="1100">
                <a:solidFill>
                  <a:srgbClr val="F5F7FA"/>
                </a:solidFill>
              </a:defRPr>
            </a:pPr>
            <a:r>
              <a:t>• Every document is hashed with SHA-256 upon upload.</a:t>
            </a:r>
          </a:p>
          <a:p>
            <a:pPr>
              <a:spcAft>
                <a:spcPts val="600"/>
              </a:spcAft>
              <a:defRPr sz="1100">
                <a:solidFill>
                  <a:srgbClr val="F5F7FA"/>
                </a:solidFill>
              </a:defRPr>
            </a:pPr>
            <a:r>
              <a:t>• Automated integrity verification flag (VERIFIED_AUTHENTIC vs TAMPER_DETECTED).</a:t>
            </a:r>
          </a:p>
          <a:p>
            <a:pPr>
              <a:spcAft>
                <a:spcPts val="600"/>
              </a:spcAft>
              <a:defRPr sz="1100">
                <a:solidFill>
                  <a:srgbClr val="F5F7FA"/>
                </a:solidFill>
              </a:defRPr>
            </a:pPr>
            <a:r>
              <a:t>• Generates BSA Sec 63 compliant electronic certificates.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2286000"/>
          </a:xfrm>
          <a:prstGeom prst="roundRect">
            <a:avLst/>
          </a:prstGeom>
          <a:solidFill>
            <a:srgbClr val="132244"/>
          </a:solidFill>
          <a:ln w="19050">
            <a:solidFill>
              <a:srgbClr val="263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645920"/>
            <a:ext cx="475488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0B981"/>
                </a:solidFill>
              </a:defRPr>
            </a:pPr>
            <a:r>
              <a:t>👥 Stakeholder-Partitioned RBAC Folders</a:t>
            </a:r>
          </a:p>
          <a:p>
            <a:pPr>
              <a:spcAft>
                <a:spcPts val="600"/>
              </a:spcAft>
              <a:defRPr sz="1100">
                <a:solidFill>
                  <a:srgbClr val="F5F7FA"/>
                </a:solidFill>
              </a:defRPr>
            </a:pPr>
            <a:r>
              <a:t>• Strict folder isolation for IO, Forensic Lab, Prosecution, Defense, Registrar, Judge.</a:t>
            </a:r>
          </a:p>
          <a:p>
            <a:pPr>
              <a:spcAft>
                <a:spcPts val="600"/>
              </a:spcAft>
              <a:defRPr sz="1100">
                <a:solidFill>
                  <a:srgbClr val="F5F7FA"/>
                </a:solidFill>
              </a:defRPr>
            </a:pPr>
            <a:r>
              <a:t>• Defense counsel cannot access confidential IO investigation diaries until filed.</a:t>
            </a:r>
          </a:p>
          <a:p>
            <a:pPr>
              <a:spcAft>
                <a:spcPts val="600"/>
              </a:spcAft>
              <a:defRPr sz="1100">
                <a:solidFill>
                  <a:srgbClr val="F5F7FA"/>
                </a:solidFill>
              </a:defRPr>
            </a:pPr>
            <a:r>
              <a:t>• Automatic document category routing by uploader role.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212080" cy="2286000"/>
          </a:xfrm>
          <a:prstGeom prst="roundRect">
            <a:avLst/>
          </a:prstGeom>
          <a:solidFill>
            <a:srgbClr val="132244"/>
          </a:solidFill>
          <a:ln w="19050">
            <a:solidFill>
              <a:srgbClr val="263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114800"/>
            <a:ext cx="475488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B800"/>
                </a:solidFill>
              </a:defRPr>
            </a:pPr>
            <a:r>
              <a:t>🤖 AI Document Intelligence &amp; Redaction</a:t>
            </a:r>
          </a:p>
          <a:p>
            <a:pPr>
              <a:spcAft>
                <a:spcPts val="600"/>
              </a:spcAft>
              <a:defRPr sz="1100">
                <a:solidFill>
                  <a:srgbClr val="F5F7FA"/>
                </a:solidFill>
              </a:defRPr>
            </a:pPr>
            <a:r>
              <a:t>• Instant OCR extraction &amp; LLM document classification with confidence scores.</a:t>
            </a:r>
          </a:p>
          <a:p>
            <a:pPr>
              <a:spcAft>
                <a:spcPts val="600"/>
              </a:spcAft>
              <a:defRPr sz="1100">
                <a:solidFill>
                  <a:srgbClr val="F5F7FA"/>
                </a:solidFill>
              </a:defRPr>
            </a:pPr>
            <a:r>
              <a:t>• AI Redaction Studio: 1-click detection of Aadhaar, PAN, phone numbers &amp; victim names.</a:t>
            </a:r>
          </a:p>
          <a:p>
            <a:pPr>
              <a:spcAft>
                <a:spcPts val="600"/>
              </a:spcAft>
              <a:defRPr sz="1100">
                <a:solidFill>
                  <a:srgbClr val="F5F7FA"/>
                </a:solidFill>
              </a:defRPr>
            </a:pPr>
            <a:r>
              <a:t>• Non-destructive redaction: Clones redacted version while locking the original.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5212080" cy="2286000"/>
          </a:xfrm>
          <a:prstGeom prst="roundRect">
            <a:avLst/>
          </a:prstGeom>
          <a:solidFill>
            <a:srgbClr val="132244"/>
          </a:solidFill>
          <a:ln w="19050">
            <a:solidFill>
              <a:srgbClr val="263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4114800"/>
            <a:ext cx="475488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A855F7"/>
                </a:solidFill>
              </a:defRPr>
            </a:pPr>
            <a:r>
              <a:t>🧠 RAG-Powered Judicial AI Assistant</a:t>
            </a:r>
          </a:p>
          <a:p>
            <a:pPr>
              <a:spcAft>
                <a:spcPts val="600"/>
              </a:spcAft>
              <a:defRPr sz="1100">
                <a:solidFill>
                  <a:srgbClr val="F5F7FA"/>
                </a:solidFill>
              </a:defRPr>
            </a:pPr>
            <a:r>
              <a:t>• Case-bound AI copilot: Answers legal queries strictly grounded in uploaded case files.</a:t>
            </a:r>
          </a:p>
          <a:p>
            <a:pPr>
              <a:spcAft>
                <a:spcPts val="600"/>
              </a:spcAft>
              <a:defRPr sz="1100">
                <a:solidFill>
                  <a:srgbClr val="F5F7FA"/>
                </a:solidFill>
              </a:defRPr>
            </a:pPr>
            <a:r>
              <a:t>• Generates automated 1-page executive Case Summary Reports &amp; Timelines.</a:t>
            </a:r>
          </a:p>
          <a:p>
            <a:pPr>
              <a:spcAft>
                <a:spcPts val="600"/>
              </a:spcAft>
              <a:defRPr sz="1100">
                <a:solidFill>
                  <a:srgbClr val="F5F7FA"/>
                </a:solidFill>
              </a:defRPr>
            </a:pPr>
            <a:r>
              <a:t>• Empowers Judges and IOs to spot timeline contradictions in seconds.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D4FF"/>
                </a:solidFill>
              </a:defRPr>
            </a:pPr>
            <a:r>
              <a:t>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5F7FA"/>
                </a:solidFill>
              </a:defRPr>
            </a:pPr>
            <a:r>
              <a:t>Technical Architecture &amp; End-to-End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560320" cy="4754880"/>
          </a:xfrm>
          <a:prstGeom prst="roundRect">
            <a:avLst/>
          </a:prstGeom>
          <a:solidFill>
            <a:srgbClr val="132244"/>
          </a:solidFill>
          <a:ln w="19050">
            <a:solidFill>
              <a:srgbClr val="263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210312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0D4FF"/>
                </a:solidFill>
              </a:defRPr>
            </a:pPr>
            <a:r>
              <a:t>1. Presentation Layer (Client)</a:t>
            </a:r>
          </a:p>
          <a:p>
            <a:pPr>
              <a:spcAft>
                <a:spcPts val="600"/>
              </a:spcAft>
              <a:defRPr sz="1100">
                <a:solidFill>
                  <a:srgbClr val="F5F7FA"/>
                </a:solidFill>
              </a:defRPr>
            </a:pPr>
            <a:r>
              <a:t>• React 18 + Vite SPA</a:t>
            </a:r>
          </a:p>
          <a:p>
            <a:pPr>
              <a:spcAft>
                <a:spcPts val="600"/>
              </a:spcAft>
              <a:defRPr sz="1100">
                <a:solidFill>
                  <a:srgbClr val="F5F7FA"/>
                </a:solidFill>
              </a:defRPr>
            </a:pPr>
            <a:r>
              <a:t>• Tailwind CSS Dark Theme</a:t>
            </a:r>
          </a:p>
          <a:p>
            <a:pPr>
              <a:spcAft>
                <a:spcPts val="600"/>
              </a:spcAft>
              <a:defRPr sz="1100">
                <a:solidFill>
                  <a:srgbClr val="F5F7FA"/>
                </a:solidFill>
              </a:defRPr>
            </a:pPr>
            <a:r>
              <a:t>• Framer Motion Animations</a:t>
            </a:r>
          </a:p>
          <a:p>
            <a:pPr>
              <a:spcAft>
                <a:spcPts val="600"/>
              </a:spcAft>
              <a:defRPr sz="1100">
                <a:solidFill>
                  <a:srgbClr val="F5F7FA"/>
                </a:solidFill>
              </a:defRPr>
            </a:pPr>
            <a:r>
              <a:t>• Role-Based Dashboard Views</a:t>
            </a:r>
          </a:p>
          <a:p>
            <a:pPr>
              <a:spcAft>
                <a:spcPts val="600"/>
              </a:spcAft>
              <a:defRPr sz="1100">
                <a:solidFill>
                  <a:srgbClr val="F5F7FA"/>
                </a:solidFill>
              </a:defRPr>
            </a:pPr>
            <a:r>
              <a:t>• Interactive Redaction Studio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463040"/>
            <a:ext cx="2560320" cy="4754880"/>
          </a:xfrm>
          <a:prstGeom prst="roundRect">
            <a:avLst/>
          </a:prstGeom>
          <a:solidFill>
            <a:srgbClr val="132244"/>
          </a:solidFill>
          <a:ln w="19050">
            <a:solidFill>
              <a:srgbClr val="263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1645920"/>
            <a:ext cx="210312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0B981"/>
                </a:solidFill>
              </a:defRPr>
            </a:pPr>
            <a:r>
              <a:t>2. Application Layer (Backend)</a:t>
            </a:r>
          </a:p>
          <a:p>
            <a:pPr>
              <a:spcAft>
                <a:spcPts val="600"/>
              </a:spcAft>
              <a:defRPr sz="1100">
                <a:solidFill>
                  <a:srgbClr val="F5F7FA"/>
                </a:solidFill>
              </a:defRPr>
            </a:pPr>
            <a:r>
              <a:t>• Node.js &amp; Express REST API</a:t>
            </a:r>
          </a:p>
          <a:p>
            <a:pPr>
              <a:spcAft>
                <a:spcPts val="600"/>
              </a:spcAft>
              <a:defRPr sz="1100">
                <a:solidFill>
                  <a:srgbClr val="F5F7FA"/>
                </a:solidFill>
              </a:defRPr>
            </a:pPr>
            <a:r>
              <a:t>• JWT &amp; Role Middleware (RBAC)</a:t>
            </a:r>
          </a:p>
          <a:p>
            <a:pPr>
              <a:spcAft>
                <a:spcPts val="600"/>
              </a:spcAft>
              <a:defRPr sz="1100">
                <a:solidFill>
                  <a:srgbClr val="F5F7FA"/>
                </a:solidFill>
              </a:defRPr>
            </a:pPr>
            <a:r>
              <a:t>• Chain of Custody Audit Logger</a:t>
            </a:r>
          </a:p>
          <a:p>
            <a:pPr>
              <a:spcAft>
                <a:spcPts val="600"/>
              </a:spcAft>
              <a:defRPr sz="1100">
                <a:solidFill>
                  <a:srgbClr val="F5F7FA"/>
                </a:solidFill>
              </a:defRPr>
            </a:pPr>
            <a:r>
              <a:t>• BSA 63 Hash Validator Service</a:t>
            </a:r>
          </a:p>
          <a:p>
            <a:pPr>
              <a:spcAft>
                <a:spcPts val="600"/>
              </a:spcAft>
              <a:defRPr sz="1100">
                <a:solidFill>
                  <a:srgbClr val="F5F7FA"/>
                </a:solidFill>
              </a:defRPr>
            </a:pPr>
            <a:r>
              <a:t>• Background OCR &amp; AI Dispatcher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463040"/>
            <a:ext cx="2560320" cy="4754880"/>
          </a:xfrm>
          <a:prstGeom prst="roundRect">
            <a:avLst/>
          </a:prstGeom>
          <a:solidFill>
            <a:srgbClr val="132244"/>
          </a:solidFill>
          <a:ln w="19050">
            <a:solidFill>
              <a:srgbClr val="263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645920"/>
            <a:ext cx="210312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B800"/>
                </a:solidFill>
              </a:defRPr>
            </a:pPr>
            <a:r>
              <a:t>3. AI Intelligence Layer</a:t>
            </a:r>
          </a:p>
          <a:p>
            <a:pPr>
              <a:spcAft>
                <a:spcPts val="600"/>
              </a:spcAft>
              <a:defRPr sz="1100">
                <a:solidFill>
                  <a:srgbClr val="F5F7FA"/>
                </a:solidFill>
              </a:defRPr>
            </a:pPr>
            <a:r>
              <a:t>• Google Gemini 2.5 Flash LLM</a:t>
            </a:r>
          </a:p>
          <a:p>
            <a:pPr>
              <a:spcAft>
                <a:spcPts val="600"/>
              </a:spcAft>
              <a:defRPr sz="1100">
                <a:solidFill>
                  <a:srgbClr val="F5F7FA"/>
                </a:solidFill>
              </a:defRPr>
            </a:pPr>
            <a:r>
              <a:t>• RAG Case Assistant Engine</a:t>
            </a:r>
          </a:p>
          <a:p>
            <a:pPr>
              <a:spcAft>
                <a:spcPts val="600"/>
              </a:spcAft>
              <a:defRPr sz="1100">
                <a:solidFill>
                  <a:srgbClr val="F5F7FA"/>
                </a:solidFill>
              </a:defRPr>
            </a:pPr>
            <a:r>
              <a:t>• Vector Embeddings (pgvector)</a:t>
            </a:r>
          </a:p>
          <a:p>
            <a:pPr>
              <a:spcAft>
                <a:spcPts val="600"/>
              </a:spcAft>
              <a:defRPr sz="1100">
                <a:solidFill>
                  <a:srgbClr val="F5F7FA"/>
                </a:solidFill>
              </a:defRPr>
            </a:pPr>
            <a:r>
              <a:t>• Regex + NLP PII Detection</a:t>
            </a:r>
          </a:p>
          <a:p>
            <a:pPr>
              <a:spcAft>
                <a:spcPts val="600"/>
              </a:spcAft>
              <a:defRPr sz="1100">
                <a:solidFill>
                  <a:srgbClr val="F5F7FA"/>
                </a:solidFill>
              </a:defRPr>
            </a:pPr>
            <a:r>
              <a:t>• Automated Case Summarizer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463040"/>
            <a:ext cx="2560320" cy="4754880"/>
          </a:xfrm>
          <a:prstGeom prst="roundRect">
            <a:avLst/>
          </a:prstGeom>
          <a:solidFill>
            <a:srgbClr val="132244"/>
          </a:solidFill>
          <a:ln w="19050">
            <a:solidFill>
              <a:srgbClr val="263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0" y="1645920"/>
            <a:ext cx="210312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EC4899"/>
                </a:solidFill>
              </a:defRPr>
            </a:pPr>
            <a:r>
              <a:t>4. Storage &amp; Persistence</a:t>
            </a:r>
          </a:p>
          <a:p>
            <a:pPr>
              <a:spcAft>
                <a:spcPts val="600"/>
              </a:spcAft>
              <a:defRPr sz="1100">
                <a:solidFill>
                  <a:srgbClr val="F5F7FA"/>
                </a:solidFill>
              </a:defRPr>
            </a:pPr>
            <a:r>
              <a:t>• PostgreSQL (PGlite Embedded)</a:t>
            </a:r>
          </a:p>
          <a:p>
            <a:pPr>
              <a:spcAft>
                <a:spcPts val="600"/>
              </a:spcAft>
              <a:defRPr sz="1100">
                <a:solidFill>
                  <a:srgbClr val="F5F7FA"/>
                </a:solidFill>
              </a:defRPr>
            </a:pPr>
            <a:r>
              <a:t>• MinIO / S3 Object Storage</a:t>
            </a:r>
          </a:p>
          <a:p>
            <a:pPr>
              <a:spcAft>
                <a:spcPts val="600"/>
              </a:spcAft>
              <a:defRPr sz="1100">
                <a:solidFill>
                  <a:srgbClr val="F5F7FA"/>
                </a:solidFill>
              </a:defRPr>
            </a:pPr>
            <a:r>
              <a:t>• SHA-256 Checksum Index</a:t>
            </a:r>
          </a:p>
          <a:p>
            <a:pPr>
              <a:spcAft>
                <a:spcPts val="600"/>
              </a:spcAft>
              <a:defRPr sz="1100">
                <a:solidFill>
                  <a:srgbClr val="F5F7FA"/>
                </a:solidFill>
              </a:defRPr>
            </a:pPr>
            <a:r>
              <a:t>• Immutable Append-Only Logs</a:t>
            </a:r>
          </a:p>
          <a:p>
            <a:pPr>
              <a:spcAft>
                <a:spcPts val="600"/>
              </a:spcAft>
              <a:defRPr sz="1100">
                <a:solidFill>
                  <a:srgbClr val="F5F7FA"/>
                </a:solidFill>
              </a:defRPr>
            </a:pPr>
            <a:r>
              <a:t>• Partitioned Document Storage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D4FF"/>
                </a:solidFill>
              </a:defRPr>
            </a:pPr>
            <a:r>
              <a:t>WORKFLOW SIMULATION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5F7FA"/>
                </a:solidFill>
              </a:defRPr>
            </a:pPr>
            <a:r>
              <a:t>Full Case Lifecycle: 'State vs Hardik' Demo Scenario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868680"/>
          </a:xfrm>
          <a:prstGeom prst="roundRect">
            <a:avLst/>
          </a:prstGeom>
          <a:solidFill>
            <a:srgbClr val="132244"/>
          </a:solidFill>
          <a:ln>
            <a:solidFill>
              <a:srgbClr val="263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D4FF"/>
                </a:solidFill>
              </a:defRPr>
            </a:pPr>
            <a:r>
              <a:t>Step 1: FIR &amp; Remand (POL-1)</a:t>
            </a:r>
          </a:p>
          <a:p>
            <a:pPr>
              <a:spcBef>
                <a:spcPts val="200"/>
              </a:spcBef>
              <a:defRPr sz="1000">
                <a:solidFill>
                  <a:srgbClr val="F5F7FA"/>
                </a:solidFill>
              </a:defRPr>
            </a:pPr>
            <a:r>
              <a:t>Investigating Officer registers FIR under Sec 318(4) BNS &amp; IT Act 66D. Uploads Complaint, FIR, Arrest Memo, and Remand Application.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31720"/>
            <a:ext cx="10698480" cy="868680"/>
          </a:xfrm>
          <a:prstGeom prst="roundRect">
            <a:avLst/>
          </a:prstGeom>
          <a:solidFill>
            <a:srgbClr val="132244"/>
          </a:solidFill>
          <a:ln>
            <a:solidFill>
              <a:srgbClr val="263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D4FF"/>
                </a:solidFill>
              </a:defRPr>
            </a:pPr>
            <a:r>
              <a:t>Step 2: Cyber Forensics (FOR-1)</a:t>
            </a:r>
          </a:p>
          <a:p>
            <a:pPr>
              <a:spcBef>
                <a:spcPts val="200"/>
              </a:spcBef>
              <a:defRPr sz="1000">
                <a:solidFill>
                  <a:srgbClr val="F5F7FA"/>
                </a:solidFill>
              </a:defRPr>
            </a:pPr>
            <a:r>
              <a:t>Forensic Examiner uploads Bank Statement Analysis &amp; Crypto Tracing Report linking suspect's laptop to fraudulent transfers.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91840"/>
            <a:ext cx="10698480" cy="868680"/>
          </a:xfrm>
          <a:prstGeom prst="roundRect">
            <a:avLst/>
          </a:prstGeom>
          <a:solidFill>
            <a:srgbClr val="132244"/>
          </a:solidFill>
          <a:ln>
            <a:solidFill>
              <a:srgbClr val="263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D4FF"/>
                </a:solidFill>
              </a:defRPr>
            </a:pPr>
            <a:r>
              <a:t>Step 3: Defense &amp; Bail (ADV-1)</a:t>
            </a:r>
          </a:p>
          <a:p>
            <a:pPr>
              <a:spcBef>
                <a:spcPts val="200"/>
              </a:spcBef>
              <a:defRPr sz="1000">
                <a:solidFill>
                  <a:srgbClr val="F5F7FA"/>
                </a:solidFill>
              </a:defRPr>
            </a:pPr>
            <a:r>
              <a:t>Defense Counsel files Sec 489 BNSS Bail Application; State Prosecutor (ADV-2) files formal evidentiary objections.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51960"/>
            <a:ext cx="10698480" cy="868680"/>
          </a:xfrm>
          <a:prstGeom prst="roundRect">
            <a:avLst/>
          </a:prstGeom>
          <a:solidFill>
            <a:srgbClr val="132244"/>
          </a:solidFill>
          <a:ln>
            <a:solidFill>
              <a:srgbClr val="263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D4FF"/>
                </a:solidFill>
              </a:defRPr>
            </a:pPr>
            <a:r>
              <a:t>Step 4: Registry &amp; Summons (REG-1)</a:t>
            </a:r>
          </a:p>
          <a:p>
            <a:pPr>
              <a:spcBef>
                <a:spcPts val="200"/>
              </a:spcBef>
              <a:defRPr sz="1000">
                <a:solidFill>
                  <a:srgbClr val="F5F7FA"/>
                </a:solidFill>
              </a:defRPr>
            </a:pPr>
            <a:r>
              <a:t>Court Registrar registers trial schedule, issues digital witness summons to Bank Manager, and updates docket.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212080"/>
            <a:ext cx="10698480" cy="868680"/>
          </a:xfrm>
          <a:prstGeom prst="roundRect">
            <a:avLst/>
          </a:prstGeom>
          <a:solidFill>
            <a:srgbClr val="132244"/>
          </a:solidFill>
          <a:ln>
            <a:solidFill>
              <a:srgbClr val="263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D4FF"/>
                </a:solidFill>
              </a:defRPr>
            </a:pPr>
            <a:r>
              <a:t>Step 5: Judicial Verdict (JUD-1)</a:t>
            </a:r>
          </a:p>
          <a:p>
            <a:pPr>
              <a:spcBef>
                <a:spcPts val="200"/>
              </a:spcBef>
              <a:defRPr sz="1000">
                <a:solidFill>
                  <a:srgbClr val="F5F7FA"/>
                </a:solidFill>
              </a:defRPr>
            </a:pPr>
            <a:r>
              <a:t>Judge uses AI Assistant to synthesize 11 evidence items, verifies tamper-free hashes, and pronounces Final Judgment.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D4FF"/>
                </a:solidFill>
              </a:defRPr>
            </a:pPr>
            <a:r>
              <a:t>INNOVATION &amp; NOVELTY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5F7FA"/>
                </a:solidFill>
              </a:defRPr>
            </a:pPr>
            <a:r>
              <a:t>Why NyayVault Outperforms Traditional e-Court Systems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132244"/>
          </a:solidFill>
          <a:ln w="19050">
            <a:solidFill>
              <a:srgbClr val="263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29260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0D4FF"/>
                </a:solidFill>
              </a:defRPr>
            </a:pPr>
            <a:r>
              <a:t>1. Zero-Trust Evidence Chain</a:t>
            </a:r>
          </a:p>
          <a:p>
            <a:pPr>
              <a:spcAft>
                <a:spcPts val="600"/>
              </a:spcAft>
              <a:defRPr sz="1100">
                <a:solidFill>
                  <a:srgbClr val="F5F7FA"/>
                </a:solidFill>
              </a:defRPr>
            </a:pPr>
            <a:r>
              <a:t>• Traditional e-Courts only store PDFs without cryptographic verification.</a:t>
            </a:r>
          </a:p>
          <a:p>
            <a:pPr>
              <a:spcAft>
                <a:spcPts val="600"/>
              </a:spcAft>
              <a:defRPr sz="1100">
                <a:solidFill>
                  <a:srgbClr val="F5F7FA"/>
                </a:solidFill>
              </a:defRPr>
            </a:pPr>
            <a:r>
              <a:t>• NyayVault computes live SHA-256 hashes on every retrieval.</a:t>
            </a:r>
          </a:p>
          <a:p>
            <a:pPr>
              <a:spcAft>
                <a:spcPts val="600"/>
              </a:spcAft>
              <a:defRPr sz="1100">
                <a:solidFill>
                  <a:srgbClr val="F5F7FA"/>
                </a:solidFill>
              </a:defRPr>
            </a:pPr>
            <a:r>
              <a:t>• Instant detection of bit-level data tampering or database injection.</a:t>
            </a:r>
          </a:p>
          <a:p>
            <a:pPr>
              <a:spcAft>
                <a:spcPts val="600"/>
              </a:spcAft>
              <a:defRPr sz="1100">
                <a:solidFill>
                  <a:srgbClr val="F5F7FA"/>
                </a:solidFill>
              </a:defRPr>
            </a:pPr>
            <a:r>
              <a:t>• Immutable audit log records user ID, IP address, timestamp, and action.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132244"/>
          </a:solidFill>
          <a:ln w="19050">
            <a:solidFill>
              <a:srgbClr val="263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645920"/>
            <a:ext cx="29260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B800"/>
                </a:solidFill>
              </a:defRPr>
            </a:pPr>
            <a:r>
              <a:t>2. Intelligent Privacy Studio</a:t>
            </a:r>
          </a:p>
          <a:p>
            <a:pPr>
              <a:spcAft>
                <a:spcPts val="600"/>
              </a:spcAft>
              <a:defRPr sz="1100">
                <a:solidFill>
                  <a:srgbClr val="F5F7FA"/>
                </a:solidFill>
              </a:defRPr>
            </a:pPr>
            <a:r>
              <a:t>• Manual marker redaction is slow and prone to human oversight.</a:t>
            </a:r>
          </a:p>
          <a:p>
            <a:pPr>
              <a:spcAft>
                <a:spcPts val="600"/>
              </a:spcAft>
              <a:defRPr sz="1100">
                <a:solidFill>
                  <a:srgbClr val="F5F7FA"/>
                </a:solidFill>
              </a:defRPr>
            </a:pPr>
            <a:r>
              <a:t>• AI automatically scans documents for Aadhaar, PAN, phone numbers, and victim names.</a:t>
            </a:r>
          </a:p>
          <a:p>
            <a:pPr>
              <a:spcAft>
                <a:spcPts val="600"/>
              </a:spcAft>
              <a:defRPr sz="1100">
                <a:solidFill>
                  <a:srgbClr val="F5F7FA"/>
                </a:solidFill>
              </a:defRPr>
            </a:pPr>
            <a:r>
              <a:t>• Interactive UI lets officers accept/reject suggestions before applying.</a:t>
            </a:r>
          </a:p>
          <a:p>
            <a:pPr>
              <a:spcAft>
                <a:spcPts val="600"/>
              </a:spcAft>
              <a:defRPr sz="1100">
                <a:solidFill>
                  <a:srgbClr val="F5F7FA"/>
                </a:solidFill>
              </a:defRPr>
            </a:pPr>
            <a:r>
              <a:t>• Non-destructive: Clones a redacted record while preserving the legal original.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132244"/>
          </a:solidFill>
          <a:ln w="19050">
            <a:solidFill>
              <a:srgbClr val="263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645920"/>
            <a:ext cx="29260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0B981"/>
                </a:solidFill>
              </a:defRPr>
            </a:pPr>
            <a:r>
              <a:t>3. Hallucination-Free AI RAG</a:t>
            </a:r>
          </a:p>
          <a:p>
            <a:pPr>
              <a:spcAft>
                <a:spcPts val="600"/>
              </a:spcAft>
              <a:defRPr sz="1100">
                <a:solidFill>
                  <a:srgbClr val="F5F7FA"/>
                </a:solidFill>
              </a:defRPr>
            </a:pPr>
            <a:r>
              <a:t>• Standard AI chats hallucinate legal facts.</a:t>
            </a:r>
          </a:p>
          <a:p>
            <a:pPr>
              <a:spcAft>
                <a:spcPts val="600"/>
              </a:spcAft>
              <a:defRPr sz="1100">
                <a:solidFill>
                  <a:srgbClr val="F5F7FA"/>
                </a:solidFill>
              </a:defRPr>
            </a:pPr>
            <a:r>
              <a:t>• Our RAG architecture binds queries strictly to verified case documents.</a:t>
            </a:r>
          </a:p>
          <a:p>
            <a:pPr>
              <a:spcAft>
                <a:spcPts val="600"/>
              </a:spcAft>
              <a:defRPr sz="1100">
                <a:solidFill>
                  <a:srgbClr val="F5F7FA"/>
                </a:solidFill>
              </a:defRPr>
            </a:pPr>
            <a:r>
              <a:t>• Vector search (pgvector) retrieves precise paragraph references.</a:t>
            </a:r>
          </a:p>
          <a:p>
            <a:pPr>
              <a:spcAft>
                <a:spcPts val="600"/>
              </a:spcAft>
              <a:defRPr sz="1100">
                <a:solidFill>
                  <a:srgbClr val="F5F7FA"/>
                </a:solidFill>
              </a:defRPr>
            </a:pPr>
            <a:r>
              <a:t>• Generates executive 1-page case summaries and chronological timelines.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D4FF"/>
                </a:solidFill>
              </a:defRPr>
            </a:pPr>
            <a:r>
              <a:t>STATUTORY ALIGNMENT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5F7FA"/>
                </a:solidFill>
              </a:defRPr>
            </a:pPr>
            <a:r>
              <a:t>Compliance with Indian Legal &amp; Security Frameworks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1097280"/>
          </a:xfrm>
          <a:prstGeom prst="roundRect">
            <a:avLst/>
          </a:prstGeom>
          <a:solidFill>
            <a:srgbClr val="132244"/>
          </a:solidFill>
          <a:ln>
            <a:solidFill>
              <a:srgbClr val="263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B800"/>
                </a:solidFill>
              </a:defRPr>
            </a:pPr>
            <a:r>
              <a:t>Bharatiya Sakshya Adhiniyam (BSA), 2023 — Section 61 &amp; 63: Admissibility of Electronic Records</a:t>
            </a:r>
          </a:p>
          <a:p>
            <a:pPr>
              <a:spcBef>
                <a:spcPts val="300"/>
              </a:spcBef>
              <a:defRPr sz="1100">
                <a:solidFill>
                  <a:srgbClr val="F5F7FA"/>
                </a:solidFill>
              </a:defRPr>
            </a:pPr>
            <a:r>
              <a:t>Provides automated cryptographic hash certificate generation, ensuring digital evidence meets legal evidentiary standards in court.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06040"/>
            <a:ext cx="10698480" cy="1097280"/>
          </a:xfrm>
          <a:prstGeom prst="roundRect">
            <a:avLst/>
          </a:prstGeom>
          <a:solidFill>
            <a:srgbClr val="132244"/>
          </a:solidFill>
          <a:ln>
            <a:solidFill>
              <a:srgbClr val="263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B800"/>
                </a:solidFill>
              </a:defRPr>
            </a:pPr>
            <a:r>
              <a:t>Bharatiya Nagarik Suraksha Sanhita (BNSS), 2023 — Section 173/193 (Charge Sheets) &amp; Sec 489 (Bail)</a:t>
            </a:r>
          </a:p>
          <a:p>
            <a:pPr>
              <a:spcBef>
                <a:spcPts val="300"/>
              </a:spcBef>
              <a:defRPr sz="1100">
                <a:solidFill>
                  <a:srgbClr val="F5F7FA"/>
                </a:solidFill>
              </a:defRPr>
            </a:pPr>
            <a:r>
              <a:t>Implements digital workflow for victim complaints, FIR registrations, police diary maintenance, and digital charge sheet submissions.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10698480" cy="1097280"/>
          </a:xfrm>
          <a:prstGeom prst="roundRect">
            <a:avLst/>
          </a:prstGeom>
          <a:solidFill>
            <a:srgbClr val="132244"/>
          </a:solidFill>
          <a:ln>
            <a:solidFill>
              <a:srgbClr val="263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B800"/>
                </a:solidFill>
              </a:defRPr>
            </a:pPr>
            <a:r>
              <a:t>Information Technology Act, 2000 — Section 65B &amp; 66D Compliance</a:t>
            </a:r>
          </a:p>
          <a:p>
            <a:pPr>
              <a:spcBef>
                <a:spcPts val="300"/>
              </a:spcBef>
              <a:defRPr sz="1100">
                <a:solidFill>
                  <a:srgbClr val="F5F7FA"/>
                </a:solidFill>
              </a:defRPr>
            </a:pPr>
            <a:r>
              <a:t>Maintains tamper-proof chain of custody logs with electronic audit trails suitable for cyber crime and financial fraud trials.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074920"/>
            <a:ext cx="10698480" cy="1097280"/>
          </a:xfrm>
          <a:prstGeom prst="roundRect">
            <a:avLst/>
          </a:prstGeom>
          <a:solidFill>
            <a:srgbClr val="132244"/>
          </a:solidFill>
          <a:ln>
            <a:solidFill>
              <a:srgbClr val="263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B800"/>
                </a:solidFill>
              </a:defRPr>
            </a:pPr>
            <a:r>
              <a:t>Digital Personal Data Protection (DPDP) Act, 2023 — Data Minimization &amp; Privacy Protection</a:t>
            </a:r>
          </a:p>
          <a:p>
            <a:pPr>
              <a:spcBef>
                <a:spcPts val="300"/>
              </a:spcBef>
              <a:defRPr sz="1100">
                <a:solidFill>
                  <a:srgbClr val="F5F7FA"/>
                </a:solidFill>
              </a:defRPr>
            </a:pPr>
            <a:r>
              <a:t>Integrated AI Redaction Studio ensures sensitive witness PII and personal identifiers are sanitized before public dissemination.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D4FF"/>
                </a:solidFill>
              </a:defRPr>
            </a:pPr>
            <a:r>
              <a:t>SOCIETAL IMPACT &amp;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5F7FA"/>
                </a:solidFill>
              </a:defRPr>
            </a:pPr>
            <a:r>
              <a:t>Measurable Outcomes for Indian Judiciary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2240280"/>
          </a:xfrm>
          <a:prstGeom prst="roundRect">
            <a:avLst/>
          </a:prstGeom>
          <a:solidFill>
            <a:srgbClr val="132244"/>
          </a:solidFill>
          <a:ln>
            <a:solidFill>
              <a:srgbClr val="263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0D4FF"/>
                </a:solidFill>
              </a:defRPr>
            </a:pPr>
            <a:r>
              <a:t>75% Faster</a:t>
            </a:r>
          </a:p>
          <a:p>
            <a:pPr>
              <a:spcBef>
                <a:spcPts val="200"/>
              </a:spcBef>
              <a:defRPr sz="1400" b="1">
                <a:solidFill>
                  <a:srgbClr val="F5F7FA"/>
                </a:solidFill>
              </a:defRPr>
            </a:pPr>
            <a:r>
              <a:t>Case Preparation Time</a:t>
            </a:r>
          </a:p>
          <a:p>
            <a:pPr>
              <a:spcBef>
                <a:spcPts val="400"/>
              </a:spcBef>
              <a:defRPr sz="1100">
                <a:solidFill>
                  <a:srgbClr val="A0AEC0"/>
                </a:solidFill>
              </a:defRPr>
            </a:pPr>
            <a:r>
              <a:t>Judges and IOs can analyze thousands of evidence pages and generate timelines in minutes.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463040"/>
            <a:ext cx="5212080" cy="2240280"/>
          </a:xfrm>
          <a:prstGeom prst="roundRect">
            <a:avLst/>
          </a:prstGeom>
          <a:solidFill>
            <a:srgbClr val="132244"/>
          </a:solidFill>
          <a:ln>
            <a:solidFill>
              <a:srgbClr val="263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0D4FF"/>
                </a:solidFill>
              </a:defRPr>
            </a:pPr>
            <a:r>
              <a:t>100% Auditability</a:t>
            </a:r>
          </a:p>
          <a:p>
            <a:pPr>
              <a:spcBef>
                <a:spcPts val="200"/>
              </a:spcBef>
              <a:defRPr sz="1400" b="1">
                <a:solidFill>
                  <a:srgbClr val="F5F7FA"/>
                </a:solidFill>
              </a:defRPr>
            </a:pPr>
            <a:r>
              <a:t>Tamper-Proof Chain</a:t>
            </a:r>
          </a:p>
          <a:p>
            <a:pPr>
              <a:spcBef>
                <a:spcPts val="400"/>
              </a:spcBef>
              <a:defRPr sz="1100">
                <a:solidFill>
                  <a:srgbClr val="A0AEC0"/>
                </a:solidFill>
              </a:defRPr>
            </a:pPr>
            <a:r>
              <a:t>Cryptographic hashes eliminate allegations of evidence tampering or missing court files.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86200"/>
            <a:ext cx="5212080" cy="2240280"/>
          </a:xfrm>
          <a:prstGeom prst="roundRect">
            <a:avLst/>
          </a:prstGeom>
          <a:solidFill>
            <a:srgbClr val="132244"/>
          </a:solidFill>
          <a:ln>
            <a:solidFill>
              <a:srgbClr val="263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0D4FF"/>
                </a:solidFill>
              </a:defRPr>
            </a:pPr>
            <a:r>
              <a:t>Zero Leakage</a:t>
            </a:r>
          </a:p>
          <a:p>
            <a:pPr>
              <a:spcBef>
                <a:spcPts val="200"/>
              </a:spcBef>
              <a:defRPr sz="1400" b="1">
                <a:solidFill>
                  <a:srgbClr val="F5F7FA"/>
                </a:solidFill>
              </a:defRPr>
            </a:pPr>
            <a:r>
              <a:t>Witness &amp; PII Protection</a:t>
            </a:r>
          </a:p>
          <a:p>
            <a:pPr>
              <a:spcBef>
                <a:spcPts val="400"/>
              </a:spcBef>
              <a:defRPr sz="1100">
                <a:solidFill>
                  <a:srgbClr val="A0AEC0"/>
                </a:solidFill>
              </a:defRPr>
            </a:pPr>
            <a:r>
              <a:t>AI Redaction Studio prevents accidental leaks of sensitive victim identities in bail hearings.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3886200"/>
            <a:ext cx="5212080" cy="2240280"/>
          </a:xfrm>
          <a:prstGeom prst="roundRect">
            <a:avLst/>
          </a:prstGeom>
          <a:solidFill>
            <a:srgbClr val="132244"/>
          </a:solidFill>
          <a:ln>
            <a:solidFill>
              <a:srgbClr val="263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0D4FF"/>
                </a:solidFill>
              </a:defRPr>
            </a:pPr>
            <a:r>
              <a:t>₹100s Crores</a:t>
            </a:r>
          </a:p>
          <a:p>
            <a:pPr>
              <a:spcBef>
                <a:spcPts val="200"/>
              </a:spcBef>
              <a:defRPr sz="1400" b="1">
                <a:solidFill>
                  <a:srgbClr val="F5F7FA"/>
                </a:solidFill>
              </a:defRPr>
            </a:pPr>
            <a:r>
              <a:t>Administrative Savings</a:t>
            </a:r>
          </a:p>
          <a:p>
            <a:pPr>
              <a:spcBef>
                <a:spcPts val="400"/>
              </a:spcBef>
              <a:defRPr sz="1100">
                <a:solidFill>
                  <a:srgbClr val="A0AEC0"/>
                </a:solidFill>
              </a:defRPr>
            </a:pPr>
            <a:r>
              <a:t>Eliminates physical paperwork transportation, courier costs, and dedicated evidence storage rooms.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D4FF"/>
                </a:solidFill>
              </a:defRPr>
            </a:pPr>
            <a:r>
              <a:t>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5F7FA"/>
                </a:solidFill>
              </a:defRPr>
            </a:pPr>
            <a:r>
              <a:t>Roadmap: Scaling from Hackathon to National Deployment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132244"/>
          </a:solidFill>
          <a:ln w="19050">
            <a:solidFill>
              <a:srgbClr val="263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29260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0D4FF"/>
                </a:solidFill>
              </a:defRPr>
            </a:pPr>
            <a:r>
              <a:t>Phase 1: Core System (Current MVP)</a:t>
            </a:r>
          </a:p>
          <a:p>
            <a:pPr>
              <a:spcAft>
                <a:spcPts val="600"/>
              </a:spcAft>
              <a:defRPr sz="1100">
                <a:solidFill>
                  <a:srgbClr val="F5F7FA"/>
                </a:solidFill>
              </a:defRPr>
            </a:pPr>
            <a:r>
              <a:t>• Multi-Role Vault (IO, Judge, Lawyers, Registrar)</a:t>
            </a:r>
          </a:p>
          <a:p>
            <a:pPr>
              <a:spcAft>
                <a:spcPts val="600"/>
              </a:spcAft>
              <a:defRPr sz="1100">
                <a:solidFill>
                  <a:srgbClr val="F5F7FA"/>
                </a:solidFill>
              </a:defRPr>
            </a:pPr>
            <a:r>
              <a:t>• SHA-256 Cryptographic Tamper Detection</a:t>
            </a:r>
          </a:p>
          <a:p>
            <a:pPr>
              <a:spcAft>
                <a:spcPts val="600"/>
              </a:spcAft>
              <a:defRPr sz="1100">
                <a:solidFill>
                  <a:srgbClr val="F5F7FA"/>
                </a:solidFill>
              </a:defRPr>
            </a:pPr>
            <a:r>
              <a:t>• AI OCR, Document Categorization &amp; PII Redaction</a:t>
            </a:r>
          </a:p>
          <a:p>
            <a:pPr>
              <a:spcAft>
                <a:spcPts val="600"/>
              </a:spcAft>
              <a:defRPr sz="1100">
                <a:solidFill>
                  <a:srgbClr val="F5F7FA"/>
                </a:solidFill>
              </a:defRPr>
            </a:pPr>
            <a:r>
              <a:t>• Case-bound RAG AI Assistant &amp; Summary Generator</a:t>
            </a:r>
          </a:p>
          <a:p>
            <a:pPr>
              <a:spcAft>
                <a:spcPts val="600"/>
              </a:spcAft>
              <a:defRPr sz="1100">
                <a:solidFill>
                  <a:srgbClr val="F5F7FA"/>
                </a:solidFill>
              </a:defRPr>
            </a:pPr>
            <a:r>
              <a:t>• Embedded PGlite + S3 resilient storage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463040"/>
            <a:ext cx="3383280" cy="4754880"/>
          </a:xfrm>
          <a:prstGeom prst="roundRect">
            <a:avLst/>
          </a:prstGeom>
          <a:solidFill>
            <a:srgbClr val="132244"/>
          </a:solidFill>
          <a:ln w="19050">
            <a:solidFill>
              <a:srgbClr val="263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645920"/>
            <a:ext cx="29260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0B981"/>
                </a:solidFill>
              </a:defRPr>
            </a:pPr>
            <a:r>
              <a:t>Phase 2: National e-Courts Integration</a:t>
            </a:r>
          </a:p>
          <a:p>
            <a:pPr>
              <a:spcAft>
                <a:spcPts val="600"/>
              </a:spcAft>
              <a:defRPr sz="1100">
                <a:solidFill>
                  <a:srgbClr val="F5F7FA"/>
                </a:solidFill>
              </a:defRPr>
            </a:pPr>
            <a:r>
              <a:t>• Direct API connector to e-Courts 3.0 &amp; CCTNS</a:t>
            </a:r>
          </a:p>
          <a:p>
            <a:pPr>
              <a:spcAft>
                <a:spcPts val="600"/>
              </a:spcAft>
              <a:defRPr sz="1100">
                <a:solidFill>
                  <a:srgbClr val="F5F7FA"/>
                </a:solidFill>
              </a:defRPr>
            </a:pPr>
            <a:r>
              <a:t>• Hyperledger Fabric Blockchain for Inter-State Evidence</a:t>
            </a:r>
          </a:p>
          <a:p>
            <a:pPr>
              <a:spcAft>
                <a:spcPts val="600"/>
              </a:spcAft>
              <a:defRPr sz="1100">
                <a:solidFill>
                  <a:srgbClr val="F5F7FA"/>
                </a:solidFill>
              </a:defRPr>
            </a:pPr>
            <a:r>
              <a:t>• Digital Signature (e-Sign / Aadhaar) Signing</a:t>
            </a:r>
          </a:p>
          <a:p>
            <a:pPr>
              <a:spcAft>
                <a:spcPts val="600"/>
              </a:spcAft>
              <a:defRPr sz="1100">
                <a:solidFill>
                  <a:srgbClr val="F5F7FA"/>
                </a:solidFill>
              </a:defRPr>
            </a:pPr>
            <a:r>
              <a:t>• Audio/Video Forensics Evidence Transcoding</a:t>
            </a:r>
          </a:p>
          <a:p>
            <a:pPr>
              <a:spcAft>
                <a:spcPts val="600"/>
              </a:spcAft>
              <a:defRPr sz="1100">
                <a:solidFill>
                  <a:srgbClr val="F5F7FA"/>
                </a:solidFill>
              </a:defRPr>
            </a:pPr>
            <a:r>
              <a:t>• Automated Summons Delivery via WhatsApp/SMS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463040"/>
            <a:ext cx="3383280" cy="4754880"/>
          </a:xfrm>
          <a:prstGeom prst="roundRect">
            <a:avLst/>
          </a:prstGeom>
          <a:solidFill>
            <a:srgbClr val="132244"/>
          </a:solidFill>
          <a:ln w="19050">
            <a:solidFill>
              <a:srgbClr val="263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92440" y="1645920"/>
            <a:ext cx="29260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B800"/>
                </a:solidFill>
              </a:defRPr>
            </a:pPr>
            <a:r>
              <a:t>Phase 3: AI Courtroom Copilot (Scale)</a:t>
            </a:r>
          </a:p>
          <a:p>
            <a:pPr>
              <a:spcAft>
                <a:spcPts val="600"/>
              </a:spcAft>
              <a:defRPr sz="1100">
                <a:solidFill>
                  <a:srgbClr val="F5F7FA"/>
                </a:solidFill>
              </a:defRPr>
            </a:pPr>
            <a:r>
              <a:t>• Multilingual Speech-to-Text in 12+ Indian Languages</a:t>
            </a:r>
          </a:p>
          <a:p>
            <a:pPr>
              <a:spcAft>
                <a:spcPts val="600"/>
              </a:spcAft>
              <a:defRPr sz="1100">
                <a:solidFill>
                  <a:srgbClr val="F5F7FA"/>
                </a:solidFill>
              </a:defRPr>
            </a:pPr>
            <a:r>
              <a:t>• Automated Deposition &amp; Witness Cross-Exam Insights</a:t>
            </a:r>
          </a:p>
          <a:p>
            <a:pPr>
              <a:spcAft>
                <a:spcPts val="600"/>
              </a:spcAft>
              <a:defRPr sz="1100">
                <a:solidFill>
                  <a:srgbClr val="F5F7FA"/>
                </a:solidFill>
              </a:defRPr>
            </a:pPr>
            <a:r>
              <a:t>• Offline-first PGlite sync for remote Taluka Courts</a:t>
            </a:r>
          </a:p>
          <a:p>
            <a:pPr>
              <a:spcAft>
                <a:spcPts val="600"/>
              </a:spcAft>
              <a:defRPr sz="1100">
                <a:solidFill>
                  <a:srgbClr val="F5F7FA"/>
                </a:solidFill>
              </a:defRPr>
            </a:pPr>
            <a:r>
              <a:t>• Predictive Case Scheduling &amp; Backlog Optimization</a:t>
            </a:r>
          </a:p>
          <a:p>
            <a:pPr>
              <a:spcAft>
                <a:spcPts val="600"/>
              </a:spcAft>
              <a:defRPr sz="1100">
                <a:solidFill>
                  <a:srgbClr val="F5F7FA"/>
                </a:solidFill>
              </a:defRPr>
            </a:pPr>
            <a:r>
              <a:t>• Automated Precedent &amp; Case Law Recommender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D4FF"/>
                </a:solidFill>
              </a:defRPr>
            </a:pPr>
            <a:r>
              <a:t>SUMMARY &amp;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5F7FA"/>
                </a:solidFill>
              </a:defRPr>
            </a:pPr>
            <a:r>
              <a:t>NyayVault: The Future of Digital Justice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32244"/>
          </a:solidFill>
          <a:ln w="19050">
            <a:solidFill>
              <a:srgbClr val="263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7548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0D4FF"/>
                </a:solidFill>
              </a:defRPr>
            </a:pPr>
            <a:r>
              <a:t>💡 Key Takeaways</a:t>
            </a:r>
          </a:p>
          <a:p>
            <a:pPr>
              <a:spcAft>
                <a:spcPts val="600"/>
              </a:spcAft>
              <a:defRPr sz="1100">
                <a:solidFill>
                  <a:srgbClr val="F5F7FA"/>
                </a:solidFill>
              </a:defRPr>
            </a:pPr>
            <a:r>
              <a:t>• Complete Digitization: From Victim Complaint to FIR, Bail, Forensics, and Final Verdict.</a:t>
            </a:r>
          </a:p>
          <a:p>
            <a:pPr>
              <a:spcAft>
                <a:spcPts val="600"/>
              </a:spcAft>
              <a:defRPr sz="1100">
                <a:solidFill>
                  <a:srgbClr val="F5F7FA"/>
                </a:solidFill>
              </a:defRPr>
            </a:pPr>
            <a:r>
              <a:t>• True Immutability: SHA-256 cryptographic verification prevents data tampering.</a:t>
            </a:r>
          </a:p>
          <a:p>
            <a:pPr>
              <a:spcAft>
                <a:spcPts val="600"/>
              </a:spcAft>
              <a:defRPr sz="1100">
                <a:solidFill>
                  <a:srgbClr val="F5F7FA"/>
                </a:solidFill>
              </a:defRPr>
            </a:pPr>
            <a:r>
              <a:t>• Privacy by Design: Integrated AI Redaction Studio protects sensitive witness PII.</a:t>
            </a:r>
          </a:p>
          <a:p>
            <a:pPr>
              <a:spcAft>
                <a:spcPts val="600"/>
              </a:spcAft>
              <a:defRPr sz="1100">
                <a:solidFill>
                  <a:srgbClr val="F5F7FA"/>
                </a:solidFill>
              </a:defRPr>
            </a:pPr>
            <a:r>
              <a:t>• Judicial Efficiency: RAG AI assistant reduces evidence cross-examination from days to seconds.</a:t>
            </a:r>
          </a:p>
          <a:p>
            <a:pPr>
              <a:spcAft>
                <a:spcPts val="600"/>
              </a:spcAft>
              <a:defRPr sz="1100">
                <a:solidFill>
                  <a:srgbClr val="F5F7FA"/>
                </a:solidFill>
              </a:defRPr>
            </a:pPr>
            <a:r>
              <a:t>• Legal Rigor: Fully aligned with Bharatiya Sakshya Adhiniyam (BSA 2023) and BNSS.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32244"/>
          </a:solidFill>
          <a:ln w="19050">
            <a:solidFill>
              <a:srgbClr val="263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645920"/>
            <a:ext cx="47548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0B981"/>
                </a:solidFill>
              </a:defRPr>
            </a:pPr>
            <a:r>
              <a:t>🚀 Live System Demo Access</a:t>
            </a:r>
          </a:p>
          <a:p>
            <a:pPr>
              <a:spcAft>
                <a:spcPts val="600"/>
              </a:spcAft>
              <a:defRPr sz="1100">
                <a:solidFill>
                  <a:srgbClr val="F5F7FA"/>
                </a:solidFill>
              </a:defRPr>
            </a:pPr>
            <a:r>
              <a:t>• Live Web App: Cloud-deployed on AWS EC2 &amp; Vercel.</a:t>
            </a:r>
          </a:p>
          <a:p>
            <a:pPr>
              <a:spcAft>
                <a:spcPts val="600"/>
              </a:spcAft>
              <a:defRPr sz="1100">
                <a:solidFill>
                  <a:srgbClr val="F5F7FA"/>
                </a:solidFill>
              </a:defRPr>
            </a:pPr>
            <a:r>
              <a:t>• Demo Role 1: JUD-1 (Hon. Justice Vatsal Singh — Judge)</a:t>
            </a:r>
          </a:p>
          <a:p>
            <a:pPr>
              <a:spcAft>
                <a:spcPts val="600"/>
              </a:spcAft>
              <a:defRPr sz="1100">
                <a:solidFill>
                  <a:srgbClr val="F5F7FA"/>
                </a:solidFill>
              </a:defRPr>
            </a:pPr>
            <a:r>
              <a:t>• Demo Role 2: POL-1 (Insp. Krishna Chhabra — IO)</a:t>
            </a:r>
          </a:p>
          <a:p>
            <a:pPr>
              <a:spcAft>
                <a:spcPts val="600"/>
              </a:spcAft>
              <a:defRPr sz="1100">
                <a:solidFill>
                  <a:srgbClr val="F5F7FA"/>
                </a:solidFill>
              </a:defRPr>
            </a:pPr>
            <a:r>
              <a:t>• Demo Role 3: ADV-1 (Adv. Vikram Singh — Defense)</a:t>
            </a:r>
          </a:p>
          <a:p>
            <a:pPr>
              <a:spcAft>
                <a:spcPts val="600"/>
              </a:spcAft>
              <a:defRPr sz="1100">
                <a:solidFill>
                  <a:srgbClr val="F5F7FA"/>
                </a:solidFill>
              </a:defRPr>
            </a:pPr>
            <a:r>
              <a:t>• Demo Role 4: REG-1 (Sh. R.K. Mishra — Registrar)</a:t>
            </a:r>
          </a:p>
          <a:p>
            <a:pPr>
              <a:spcAft>
                <a:spcPts val="600"/>
              </a:spcAft>
              <a:defRPr sz="1100">
                <a:solidFill>
                  <a:srgbClr val="F5F7FA"/>
                </a:solidFill>
              </a:defRPr>
            </a:pPr>
            <a:r>
              <a:t>• Demo Case: STATE VS HARDIK (Cyber Fraud ₹8.5L)</a:t>
            </a:r>
          </a:p>
          <a:p>
            <a:pPr>
              <a:spcAft>
                <a:spcPts val="600"/>
              </a:spcAft>
              <a:defRPr sz="1100">
                <a:solidFill>
                  <a:srgbClr val="F5F7FA"/>
                </a:solidFill>
              </a:defRPr>
            </a:pPr>
            <a:r>
              <a:t>• Zero Setup Required: All credentials pre-seeded with instant login.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